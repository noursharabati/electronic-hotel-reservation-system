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Poppins" panose="00000500000000000000" pitchFamily="2" charset="0"/>
      <p:regular r:id="rId24"/>
    </p:embeddedFont>
    <p:embeddedFont>
      <p:font typeface="Poppins Bold" panose="020B0604020202020204" charset="0"/>
      <p:regular r:id="rId25"/>
    </p:embeddedFont>
    <p:embeddedFont>
      <p:font typeface="The Seasons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564" y="5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2.sv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sv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sv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2.svg"/><Relationship Id="rId7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87244" y="-390004"/>
            <a:ext cx="7911060" cy="11067008"/>
            <a:chOff x="0" y="0"/>
            <a:chExt cx="2083571" cy="29147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83571" cy="2914767"/>
            </a:xfrm>
            <a:custGeom>
              <a:avLst/>
              <a:gdLst/>
              <a:ahLst/>
              <a:cxnLst/>
              <a:rect l="l" t="t" r="r" b="b"/>
              <a:pathLst>
                <a:path w="2083571" h="2914767">
                  <a:moveTo>
                    <a:pt x="0" y="0"/>
                  </a:moveTo>
                  <a:lnTo>
                    <a:pt x="2083571" y="0"/>
                  </a:lnTo>
                  <a:lnTo>
                    <a:pt x="2083571" y="2914767"/>
                  </a:lnTo>
                  <a:lnTo>
                    <a:pt x="0" y="29147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83571" cy="2971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00404" y="2079761"/>
            <a:ext cx="8115300" cy="3177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1"/>
              </a:lnSpc>
            </a:pPr>
            <a:r>
              <a:rPr lang="en-US" sz="7279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Electronic Hotel Reservation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33" y="5601256"/>
            <a:ext cx="8696243" cy="1241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8"/>
              </a:lnSpc>
            </a:pPr>
            <a:r>
              <a:rPr lang="en-US" sz="2946" b="1" spc="34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AMMAN ARAB UNIVERSITY</a:t>
            </a:r>
          </a:p>
          <a:p>
            <a:pPr algn="ctr">
              <a:lnSpc>
                <a:spcPts val="5008"/>
              </a:lnSpc>
            </a:pPr>
            <a:endParaRPr lang="en-US" sz="2946" b="1" spc="347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8918667" y="2136911"/>
            <a:ext cx="8319513" cy="6757242"/>
            <a:chOff x="0" y="0"/>
            <a:chExt cx="1288910" cy="104687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88910" cy="1046874"/>
            </a:xfrm>
            <a:custGeom>
              <a:avLst/>
              <a:gdLst/>
              <a:ahLst/>
              <a:cxnLst/>
              <a:rect l="l" t="t" r="r" b="b"/>
              <a:pathLst>
                <a:path w="1288910" h="1046874">
                  <a:moveTo>
                    <a:pt x="0" y="0"/>
                  </a:moveTo>
                  <a:lnTo>
                    <a:pt x="1288910" y="0"/>
                  </a:lnTo>
                  <a:lnTo>
                    <a:pt x="1288910" y="1046874"/>
                  </a:lnTo>
                  <a:lnTo>
                    <a:pt x="0" y="1046874"/>
                  </a:lnTo>
                  <a:close/>
                </a:path>
              </a:pathLst>
            </a:custGeom>
            <a:blipFill>
              <a:blip r:embed="rId4"/>
              <a:stretch>
                <a:fillRect l="-10954" r="-1095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889711" y="9258300"/>
            <a:ext cx="348469" cy="382551"/>
          </a:xfrm>
          <a:custGeom>
            <a:avLst/>
            <a:gdLst/>
            <a:ahLst/>
            <a:cxnLst/>
            <a:rect l="l" t="t" r="r" b="b"/>
            <a:pathLst>
              <a:path w="348469" h="382551">
                <a:moveTo>
                  <a:pt x="0" y="0"/>
                </a:moveTo>
                <a:lnTo>
                  <a:pt x="348469" y="0"/>
                </a:lnTo>
                <a:lnTo>
                  <a:pt x="348469" y="382551"/>
                </a:lnTo>
                <a:lnTo>
                  <a:pt x="0" y="3825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241191" y="6630190"/>
            <a:ext cx="6658708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Faculty of Information Technology</a:t>
            </a:r>
          </a:p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Systems Analysis and Design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Hotel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grpSp>
        <p:nvGrpSpPr>
          <p:cNvPr id="19" name="Group 19"/>
          <p:cNvGrpSpPr/>
          <p:nvPr/>
        </p:nvGrpSpPr>
        <p:grpSpPr>
          <a:xfrm rot="-5400000">
            <a:off x="10815980" y="7423279"/>
            <a:ext cx="532129" cy="2941746"/>
            <a:chOff x="0" y="0"/>
            <a:chExt cx="140149" cy="77478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0149" cy="774781"/>
            </a:xfrm>
            <a:custGeom>
              <a:avLst/>
              <a:gdLst/>
              <a:ahLst/>
              <a:cxnLst/>
              <a:rect l="l" t="t" r="r" b="b"/>
              <a:pathLst>
                <a:path w="140149" h="774781">
                  <a:moveTo>
                    <a:pt x="0" y="0"/>
                  </a:moveTo>
                  <a:lnTo>
                    <a:pt x="140149" y="0"/>
                  </a:lnTo>
                  <a:lnTo>
                    <a:pt x="140149" y="774781"/>
                  </a:lnTo>
                  <a:lnTo>
                    <a:pt x="0" y="774781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40149" cy="831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033805" y="7784172"/>
            <a:ext cx="4648498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Supervisor : Dr. Marwan Alsed</a:t>
            </a:r>
          </a:p>
          <a:p>
            <a:pPr algn="ctr" rtl="1">
              <a:lnSpc>
                <a:spcPts val="3359"/>
              </a:lnSpc>
              <a:spcBef>
                <a:spcPct val="0"/>
              </a:spcBef>
            </a:pPr>
            <a:endParaRPr lang="en-US" sz="23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00404" y="8676665"/>
            <a:ext cx="8115300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2024/2025</a:t>
            </a:r>
          </a:p>
          <a:p>
            <a:pPr algn="ctr" rtl="1">
              <a:lnSpc>
                <a:spcPts val="3359"/>
              </a:lnSpc>
              <a:spcBef>
                <a:spcPct val="0"/>
              </a:spcBef>
            </a:pPr>
            <a:endParaRPr lang="en-US" sz="23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86962" y="2989193"/>
            <a:ext cx="10734800" cy="14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9000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Our Best Team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1081732" y="4824771"/>
            <a:ext cx="20451464" cy="1970959"/>
            <a:chOff x="0" y="0"/>
            <a:chExt cx="5386394" cy="519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86394" cy="519100"/>
            </a:xfrm>
            <a:custGeom>
              <a:avLst/>
              <a:gdLst/>
              <a:ahLst/>
              <a:cxnLst/>
              <a:rect l="l" t="t" r="r" b="b"/>
              <a:pathLst>
                <a:path w="5386394" h="519100">
                  <a:moveTo>
                    <a:pt x="0" y="0"/>
                  </a:moveTo>
                  <a:lnTo>
                    <a:pt x="5386394" y="0"/>
                  </a:lnTo>
                  <a:lnTo>
                    <a:pt x="5386394" y="519100"/>
                  </a:lnTo>
                  <a:lnTo>
                    <a:pt x="0" y="51910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386394" cy="57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Hotel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9443" y="5381567"/>
            <a:ext cx="2663078" cy="790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</a:pPr>
            <a:r>
              <a:rPr lang="en-US" sz="224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Noor Diab Omar Sharabati </a:t>
            </a:r>
          </a:p>
        </p:txBody>
      </p:sp>
      <p:sp>
        <p:nvSpPr>
          <p:cNvPr id="15" name="Freeform 15"/>
          <p:cNvSpPr/>
          <p:nvPr/>
        </p:nvSpPr>
        <p:spPr>
          <a:xfrm>
            <a:off x="16889711" y="9258300"/>
            <a:ext cx="348469" cy="382551"/>
          </a:xfrm>
          <a:custGeom>
            <a:avLst/>
            <a:gdLst/>
            <a:ahLst/>
            <a:cxnLst/>
            <a:rect l="l" t="t" r="r" b="b"/>
            <a:pathLst>
              <a:path w="348469" h="382551">
                <a:moveTo>
                  <a:pt x="0" y="0"/>
                </a:moveTo>
                <a:lnTo>
                  <a:pt x="348469" y="0"/>
                </a:lnTo>
                <a:lnTo>
                  <a:pt x="348469" y="382551"/>
                </a:lnTo>
                <a:lnTo>
                  <a:pt x="0" y="382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4358054" y="5381567"/>
            <a:ext cx="3755522" cy="790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</a:pPr>
            <a:r>
              <a:rPr lang="en-US" sz="224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Raneem Waddah Mahmoud Toumar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00410" y="5186304"/>
            <a:ext cx="3316453" cy="1181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</a:pPr>
            <a:r>
              <a:rPr lang="en-US" sz="224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Malak Hussam Mohammed Al-Shalabi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496327" y="5186304"/>
            <a:ext cx="3316453" cy="790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</a:pPr>
            <a:r>
              <a:rPr lang="en-US" sz="224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Marwa Ahmad Muheimid Al-Naimat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6784" y="7057569"/>
            <a:ext cx="1826816" cy="100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202320137</a:t>
            </a:r>
          </a:p>
          <a:p>
            <a:pPr algn="ctr" rtl="1">
              <a:lnSpc>
                <a:spcPts val="3919"/>
              </a:lnSpc>
              <a:spcBef>
                <a:spcPct val="0"/>
              </a:spcBef>
            </a:pPr>
            <a:endParaRPr lang="en-US" sz="27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410200" y="7057569"/>
            <a:ext cx="2115321" cy="1005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202320248</a:t>
            </a:r>
          </a:p>
          <a:p>
            <a:pPr algn="ctr" rtl="1">
              <a:lnSpc>
                <a:spcPts val="3919"/>
              </a:lnSpc>
              <a:spcBef>
                <a:spcPct val="0"/>
              </a:spcBef>
            </a:pPr>
            <a:endParaRPr lang="en-US" sz="2799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438829" y="7057569"/>
            <a:ext cx="1839615" cy="100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202320321</a:t>
            </a:r>
          </a:p>
          <a:p>
            <a:pPr algn="ctr" rtl="1">
              <a:lnSpc>
                <a:spcPts val="3919"/>
              </a:lnSpc>
              <a:spcBef>
                <a:spcPct val="0"/>
              </a:spcBef>
            </a:pPr>
            <a:endParaRPr lang="en-US" sz="27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5225170" y="7057568"/>
            <a:ext cx="2148429" cy="475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391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202320991</a:t>
            </a:r>
            <a:endParaRPr lang="en-US" sz="2799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14268" y="-1521148"/>
            <a:ext cx="6273978" cy="12341525"/>
            <a:chOff x="0" y="0"/>
            <a:chExt cx="1652406" cy="32504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2406" cy="3250443"/>
            </a:xfrm>
            <a:custGeom>
              <a:avLst/>
              <a:gdLst/>
              <a:ahLst/>
              <a:cxnLst/>
              <a:rect l="l" t="t" r="r" b="b"/>
              <a:pathLst>
                <a:path w="1652406" h="3250443">
                  <a:moveTo>
                    <a:pt x="0" y="0"/>
                  </a:moveTo>
                  <a:lnTo>
                    <a:pt x="1652406" y="0"/>
                  </a:lnTo>
                  <a:lnTo>
                    <a:pt x="1652406" y="3250443"/>
                  </a:lnTo>
                  <a:lnTo>
                    <a:pt x="0" y="32504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52406" cy="3307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59709" y="-740600"/>
            <a:ext cx="532129" cy="13065903"/>
            <a:chOff x="0" y="0"/>
            <a:chExt cx="140149" cy="34412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149" cy="3441226"/>
            </a:xfrm>
            <a:custGeom>
              <a:avLst/>
              <a:gdLst/>
              <a:ahLst/>
              <a:cxnLst/>
              <a:rect l="l" t="t" r="r" b="b"/>
              <a:pathLst>
                <a:path w="140149" h="3441226">
                  <a:moveTo>
                    <a:pt x="0" y="0"/>
                  </a:moveTo>
                  <a:lnTo>
                    <a:pt x="140149" y="0"/>
                  </a:lnTo>
                  <a:lnTo>
                    <a:pt x="140149" y="3441226"/>
                  </a:lnTo>
                  <a:lnTo>
                    <a:pt x="0" y="3441226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0149" cy="3498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5786101" y="1216815"/>
            <a:ext cx="7336087" cy="109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sz="6800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Outlines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75957" y="2076103"/>
            <a:ext cx="9573697" cy="8729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9066" lvl="1" indent="-254533" algn="just">
              <a:lnSpc>
                <a:spcPts val="5045"/>
              </a:lnSpc>
              <a:buAutoNum type="arabicPeriod"/>
            </a:pPr>
            <a:r>
              <a:rPr lang="en-US" sz="2357" spc="-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Introduction (Abstract)</a:t>
            </a:r>
          </a:p>
          <a:p>
            <a:pPr marL="509066" lvl="1" indent="-254533" algn="just">
              <a:lnSpc>
                <a:spcPts val="5045"/>
              </a:lnSpc>
              <a:buAutoNum type="arabicPeriod"/>
            </a:pPr>
            <a:r>
              <a:rPr lang="en-US" sz="2357" spc="-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  <a:p>
            <a:pPr marL="509066" lvl="1" indent="-254533" algn="just">
              <a:lnSpc>
                <a:spcPts val="5045"/>
              </a:lnSpc>
              <a:buAutoNum type="arabicPeriod"/>
            </a:pPr>
            <a:r>
              <a:rPr lang="en-US" sz="2357" spc="-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Objectives</a:t>
            </a:r>
          </a:p>
          <a:p>
            <a:pPr marL="509066" lvl="1" indent="-254533" algn="just">
              <a:lnSpc>
                <a:spcPts val="5045"/>
              </a:lnSpc>
              <a:buAutoNum type="arabicPeriod"/>
            </a:pPr>
            <a:r>
              <a:rPr lang="en-US" sz="2357" spc="-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Requirements </a:t>
            </a:r>
          </a:p>
          <a:p>
            <a:pPr marL="350488" lvl="1" indent="-175244" algn="just">
              <a:lnSpc>
                <a:spcPts val="3474"/>
              </a:lnSpc>
              <a:buFont typeface="Arial"/>
              <a:buChar char="•"/>
            </a:pPr>
            <a:r>
              <a:rPr lang="en-US" sz="1623" spc="-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Functional Requirements</a:t>
            </a:r>
          </a:p>
          <a:p>
            <a:pPr marL="350488" lvl="1" indent="-175244" algn="just">
              <a:lnSpc>
                <a:spcPts val="3474"/>
              </a:lnSpc>
              <a:buFont typeface="Arial"/>
              <a:buChar char="•"/>
            </a:pPr>
            <a:r>
              <a:rPr lang="en-US" sz="1623" spc="-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Non-Functional Requirements</a:t>
            </a:r>
          </a:p>
          <a:p>
            <a:pPr marL="509066" lvl="1" indent="-254533" algn="just">
              <a:lnSpc>
                <a:spcPts val="5045"/>
              </a:lnSpc>
              <a:buAutoNum type="arabicPeriod"/>
            </a:pPr>
            <a:r>
              <a:rPr lang="en-US" sz="2357" spc="-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Stakeholder Analysis</a:t>
            </a:r>
          </a:p>
          <a:p>
            <a:pPr marL="509066" lvl="1" indent="-254533" algn="just">
              <a:lnSpc>
                <a:spcPts val="5045"/>
              </a:lnSpc>
              <a:buAutoNum type="arabicPeriod"/>
            </a:pPr>
            <a:r>
              <a:rPr lang="en-US" sz="2357" spc="-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Analysis</a:t>
            </a:r>
          </a:p>
          <a:p>
            <a:pPr marL="357940" lvl="1" indent="-178970" algn="just">
              <a:lnSpc>
                <a:spcPts val="3547"/>
              </a:lnSpc>
              <a:buFont typeface="Arial"/>
              <a:buChar char="•"/>
            </a:pPr>
            <a:r>
              <a:rPr lang="en-US" sz="1657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 Case Modeling</a:t>
            </a:r>
          </a:p>
          <a:p>
            <a:pPr marL="357940" lvl="1" indent="-178970" algn="just">
              <a:lnSpc>
                <a:spcPts val="3547"/>
              </a:lnSpc>
              <a:buFont typeface="Arial"/>
              <a:buChar char="•"/>
            </a:pPr>
            <a:r>
              <a:rPr lang="en-US" sz="1657" spc="-6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Domain Class Modeling</a:t>
            </a:r>
          </a:p>
          <a:p>
            <a:pPr marL="509066" lvl="1" indent="-254533" algn="just">
              <a:lnSpc>
                <a:spcPts val="5045"/>
              </a:lnSpc>
              <a:buAutoNum type="arabicPeriod"/>
            </a:pPr>
            <a:r>
              <a:rPr lang="en-US" sz="2357" spc="-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Design</a:t>
            </a:r>
          </a:p>
          <a:p>
            <a:pPr marL="336351" lvl="1" indent="-168175" algn="just">
              <a:lnSpc>
                <a:spcPts val="3333"/>
              </a:lnSpc>
              <a:buFont typeface="Arial"/>
              <a:buChar char="•"/>
            </a:pPr>
            <a:r>
              <a:rPr lang="en-US" sz="1557" spc="-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Activity Diagrams</a:t>
            </a:r>
          </a:p>
          <a:p>
            <a:pPr marL="336351" lvl="1" indent="-168175" algn="just">
              <a:lnSpc>
                <a:spcPts val="3333"/>
              </a:lnSpc>
              <a:buFont typeface="Arial"/>
              <a:buChar char="•"/>
            </a:pPr>
            <a:r>
              <a:rPr lang="en-US" sz="1557" spc="-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Sequence Diagrams</a:t>
            </a:r>
          </a:p>
          <a:p>
            <a:pPr marL="336351" lvl="1" indent="-168175" algn="just">
              <a:lnSpc>
                <a:spcPts val="3333"/>
              </a:lnSpc>
              <a:buFont typeface="Arial"/>
              <a:buChar char="•"/>
            </a:pPr>
            <a:r>
              <a:rPr lang="en-US" sz="1557" spc="-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Design Class Diagram</a:t>
            </a:r>
          </a:p>
          <a:p>
            <a:pPr marL="509066" lvl="1" indent="-254533" algn="just">
              <a:lnSpc>
                <a:spcPts val="5045"/>
              </a:lnSpc>
              <a:buAutoNum type="arabicPeriod"/>
            </a:pPr>
            <a:r>
              <a:rPr lang="en-US" sz="2357" spc="-8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  <a:p>
            <a:pPr algn="just">
              <a:lnSpc>
                <a:spcPts val="5045"/>
              </a:lnSpc>
            </a:pPr>
            <a:endParaRPr lang="en-US" sz="2357" spc="-8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1795" y="1754659"/>
            <a:ext cx="14264410" cy="14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9000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Abstract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29065" y="2920519"/>
            <a:ext cx="17005044" cy="6260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2"/>
              </a:lnSpc>
            </a:pPr>
            <a:r>
              <a:rPr lang="en-US" sz="27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•A comprehensive platform for managing hotel operations and enhancing guest experience.</a:t>
            </a:r>
          </a:p>
          <a:p>
            <a:pPr algn="l">
              <a:lnSpc>
                <a:spcPts val="6232"/>
              </a:lnSpc>
            </a:pPr>
            <a:r>
              <a:rPr lang="en-US" sz="27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•Solves issues in traditional systems like delays, errors, and inefficiency.</a:t>
            </a:r>
          </a:p>
          <a:p>
            <a:pPr algn="l">
              <a:lnSpc>
                <a:spcPts val="6232"/>
              </a:lnSpc>
            </a:pPr>
            <a:r>
              <a:rPr lang="en-US" sz="27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•Key Features:</a:t>
            </a:r>
          </a:p>
          <a:p>
            <a:pPr algn="l">
              <a:lnSpc>
                <a:spcPts val="6232"/>
              </a:lnSpc>
            </a:pPr>
            <a:r>
              <a:rPr lang="en-US" sz="27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Role-based access for different user types.</a:t>
            </a:r>
          </a:p>
          <a:p>
            <a:pPr algn="l">
              <a:lnSpc>
                <a:spcPts val="6232"/>
              </a:lnSpc>
            </a:pPr>
            <a:r>
              <a:rPr lang="en-US" sz="27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Real-time booking and smart device integration.</a:t>
            </a:r>
          </a:p>
          <a:p>
            <a:pPr algn="l">
              <a:lnSpc>
                <a:spcPts val="6232"/>
              </a:lnSpc>
            </a:pPr>
            <a:r>
              <a:rPr lang="en-US" sz="27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Performance dashboards and automated invoicing.</a:t>
            </a:r>
          </a:p>
          <a:p>
            <a:pPr algn="l">
              <a:lnSpc>
                <a:spcPts val="6232"/>
              </a:lnSpc>
            </a:pPr>
            <a:r>
              <a:rPr lang="en-US" sz="27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•Developed using Agile methodology with UML modeling.</a:t>
            </a:r>
          </a:p>
          <a:p>
            <a:pPr algn="l">
              <a:lnSpc>
                <a:spcPts val="6232"/>
              </a:lnSpc>
            </a:pPr>
            <a:endParaRPr lang="en-US" sz="276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6889711" y="9258300"/>
            <a:ext cx="348469" cy="382551"/>
          </a:xfrm>
          <a:custGeom>
            <a:avLst/>
            <a:gdLst/>
            <a:ahLst/>
            <a:cxnLst/>
            <a:rect l="l" t="t" r="r" b="b"/>
            <a:pathLst>
              <a:path w="348469" h="382551">
                <a:moveTo>
                  <a:pt x="0" y="0"/>
                </a:moveTo>
                <a:lnTo>
                  <a:pt x="348469" y="0"/>
                </a:lnTo>
                <a:lnTo>
                  <a:pt x="348469" y="382551"/>
                </a:lnTo>
                <a:lnTo>
                  <a:pt x="0" y="382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8662875" y="7521362"/>
            <a:ext cx="532129" cy="2941746"/>
            <a:chOff x="0" y="0"/>
            <a:chExt cx="140149" cy="77478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0149" cy="774781"/>
            </a:xfrm>
            <a:custGeom>
              <a:avLst/>
              <a:gdLst/>
              <a:ahLst/>
              <a:cxnLst/>
              <a:rect l="l" t="t" r="r" b="b"/>
              <a:pathLst>
                <a:path w="140149" h="774781">
                  <a:moveTo>
                    <a:pt x="0" y="0"/>
                  </a:moveTo>
                  <a:lnTo>
                    <a:pt x="140149" y="0"/>
                  </a:lnTo>
                  <a:lnTo>
                    <a:pt x="140149" y="774781"/>
                  </a:lnTo>
                  <a:lnTo>
                    <a:pt x="0" y="774781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40149" cy="831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72861" y="-390004"/>
            <a:ext cx="7201304" cy="11067008"/>
            <a:chOff x="0" y="0"/>
            <a:chExt cx="1896640" cy="29147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96640" cy="2914767"/>
            </a:xfrm>
            <a:custGeom>
              <a:avLst/>
              <a:gdLst/>
              <a:ahLst/>
              <a:cxnLst/>
              <a:rect l="l" t="t" r="r" b="b"/>
              <a:pathLst>
                <a:path w="1896640" h="2914767">
                  <a:moveTo>
                    <a:pt x="0" y="0"/>
                  </a:moveTo>
                  <a:lnTo>
                    <a:pt x="1896640" y="0"/>
                  </a:lnTo>
                  <a:lnTo>
                    <a:pt x="1896640" y="2914767"/>
                  </a:lnTo>
                  <a:lnTo>
                    <a:pt x="0" y="29147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896640" cy="2971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093426" y="1635648"/>
            <a:ext cx="7923437" cy="109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344"/>
              </a:lnSpc>
            </a:pPr>
            <a:r>
              <a:rPr lang="en-US" sz="6800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93426" y="2894986"/>
            <a:ext cx="12883252" cy="6657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4"/>
              </a:lnSpc>
            </a:pPr>
            <a:r>
              <a:rPr lang="en-US" sz="353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•Traditional hotel systems suffer from:</a:t>
            </a:r>
          </a:p>
          <a:p>
            <a:pPr algn="l">
              <a:lnSpc>
                <a:spcPts val="6644"/>
              </a:lnSpc>
            </a:pPr>
            <a:r>
              <a:rPr lang="en-US" sz="353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Booking delays and poor coordination.</a:t>
            </a:r>
          </a:p>
          <a:p>
            <a:pPr algn="l">
              <a:lnSpc>
                <a:spcPts val="6644"/>
              </a:lnSpc>
            </a:pPr>
            <a:r>
              <a:rPr lang="en-US" sz="353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Manual errors, duplicated data, and room assignment mistakes.</a:t>
            </a:r>
          </a:p>
          <a:p>
            <a:pPr algn="l">
              <a:lnSpc>
                <a:spcPts val="6644"/>
              </a:lnSpc>
            </a:pPr>
            <a:r>
              <a:rPr lang="en-US" sz="353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Dependence on front desk for access and payments.</a:t>
            </a:r>
          </a:p>
          <a:p>
            <a:pPr algn="l">
              <a:lnSpc>
                <a:spcPts val="6644"/>
              </a:lnSpc>
            </a:pPr>
            <a:r>
              <a:rPr lang="en-US" sz="353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•These issues reduce guest satisfaction and competitiveness.</a:t>
            </a:r>
          </a:p>
          <a:p>
            <a:pPr algn="l">
              <a:lnSpc>
                <a:spcPts val="6644"/>
              </a:lnSpc>
            </a:pPr>
            <a:endParaRPr lang="en-US" sz="3534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6" name="Freeform 16"/>
          <p:cNvSpPr/>
          <p:nvPr/>
        </p:nvSpPr>
        <p:spPr>
          <a:xfrm>
            <a:off x="16889711" y="9258300"/>
            <a:ext cx="348469" cy="382551"/>
          </a:xfrm>
          <a:custGeom>
            <a:avLst/>
            <a:gdLst/>
            <a:ahLst/>
            <a:cxnLst/>
            <a:rect l="l" t="t" r="r" b="b"/>
            <a:pathLst>
              <a:path w="348469" h="382551">
                <a:moveTo>
                  <a:pt x="0" y="0"/>
                </a:moveTo>
                <a:lnTo>
                  <a:pt x="348469" y="0"/>
                </a:lnTo>
                <a:lnTo>
                  <a:pt x="348469" y="382551"/>
                </a:lnTo>
                <a:lnTo>
                  <a:pt x="0" y="382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1027791" y="2733061"/>
            <a:ext cx="2995721" cy="3158112"/>
            <a:chOff x="0" y="0"/>
            <a:chExt cx="464116" cy="48927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64116" cy="489274"/>
            </a:xfrm>
            <a:custGeom>
              <a:avLst/>
              <a:gdLst/>
              <a:ahLst/>
              <a:cxnLst/>
              <a:rect l="l" t="t" r="r" b="b"/>
              <a:pathLst>
                <a:path w="464116" h="489274">
                  <a:moveTo>
                    <a:pt x="0" y="0"/>
                  </a:moveTo>
                  <a:lnTo>
                    <a:pt x="464116" y="0"/>
                  </a:lnTo>
                  <a:lnTo>
                    <a:pt x="464116" y="489274"/>
                  </a:lnTo>
                  <a:lnTo>
                    <a:pt x="0" y="489274"/>
                  </a:lnTo>
                  <a:close/>
                </a:path>
              </a:pathLst>
            </a:custGeom>
            <a:blipFill>
              <a:blip r:embed="rId6"/>
              <a:stretch>
                <a:fillRect l="-29115" r="-291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7791" y="6131333"/>
            <a:ext cx="2995721" cy="3158112"/>
            <a:chOff x="0" y="0"/>
            <a:chExt cx="464116" cy="48927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64116" cy="489274"/>
            </a:xfrm>
            <a:custGeom>
              <a:avLst/>
              <a:gdLst/>
              <a:ahLst/>
              <a:cxnLst/>
              <a:rect l="l" t="t" r="r" b="b"/>
              <a:pathLst>
                <a:path w="464116" h="489274">
                  <a:moveTo>
                    <a:pt x="0" y="0"/>
                  </a:moveTo>
                  <a:lnTo>
                    <a:pt x="464116" y="0"/>
                  </a:lnTo>
                  <a:lnTo>
                    <a:pt x="464116" y="489274"/>
                  </a:lnTo>
                  <a:lnTo>
                    <a:pt x="0" y="489274"/>
                  </a:lnTo>
                  <a:close/>
                </a:path>
              </a:pathLst>
            </a:custGeom>
            <a:blipFill>
              <a:blip r:embed="rId7"/>
              <a:stretch>
                <a:fillRect l="-29115" r="-291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755871" y="7290265"/>
            <a:ext cx="532129" cy="2941746"/>
            <a:chOff x="0" y="0"/>
            <a:chExt cx="140149" cy="77478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0149" cy="774781"/>
            </a:xfrm>
            <a:custGeom>
              <a:avLst/>
              <a:gdLst/>
              <a:ahLst/>
              <a:cxnLst/>
              <a:rect l="l" t="t" r="r" b="b"/>
              <a:pathLst>
                <a:path w="140149" h="774781">
                  <a:moveTo>
                    <a:pt x="0" y="0"/>
                  </a:moveTo>
                  <a:lnTo>
                    <a:pt x="140149" y="0"/>
                  </a:lnTo>
                  <a:lnTo>
                    <a:pt x="140149" y="774781"/>
                  </a:lnTo>
                  <a:lnTo>
                    <a:pt x="0" y="774781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40149" cy="831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52879" y="-1664522"/>
            <a:ext cx="6273978" cy="12341525"/>
            <a:chOff x="0" y="0"/>
            <a:chExt cx="1652406" cy="32504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2406" cy="3250443"/>
            </a:xfrm>
            <a:custGeom>
              <a:avLst/>
              <a:gdLst/>
              <a:ahLst/>
              <a:cxnLst/>
              <a:rect l="l" t="t" r="r" b="b"/>
              <a:pathLst>
                <a:path w="1652406" h="3250443">
                  <a:moveTo>
                    <a:pt x="0" y="0"/>
                  </a:moveTo>
                  <a:lnTo>
                    <a:pt x="1652406" y="0"/>
                  </a:lnTo>
                  <a:lnTo>
                    <a:pt x="1652406" y="3250443"/>
                  </a:lnTo>
                  <a:lnTo>
                    <a:pt x="0" y="32504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52406" cy="3307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55034" y="-1106349"/>
            <a:ext cx="532129" cy="13065903"/>
            <a:chOff x="0" y="0"/>
            <a:chExt cx="140149" cy="34412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149" cy="3441226"/>
            </a:xfrm>
            <a:custGeom>
              <a:avLst/>
              <a:gdLst/>
              <a:ahLst/>
              <a:cxnLst/>
              <a:rect l="l" t="t" r="r" b="b"/>
              <a:pathLst>
                <a:path w="140149" h="3441226">
                  <a:moveTo>
                    <a:pt x="0" y="0"/>
                  </a:moveTo>
                  <a:lnTo>
                    <a:pt x="140149" y="0"/>
                  </a:lnTo>
                  <a:lnTo>
                    <a:pt x="140149" y="3441226"/>
                  </a:lnTo>
                  <a:lnTo>
                    <a:pt x="0" y="3441226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0149" cy="3498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516552" y="2940061"/>
            <a:ext cx="7683005" cy="4406879"/>
            <a:chOff x="0" y="0"/>
            <a:chExt cx="7981950" cy="4578350"/>
          </a:xfrm>
        </p:grpSpPr>
        <p:sp>
          <p:nvSpPr>
            <p:cNvPr id="13" name="Freeform 13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4"/>
              <a:stretch>
                <a:fillRect t="-3228" b="-32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502183" y="2304146"/>
            <a:ext cx="7336087" cy="14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9000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Objectives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02183" y="3719460"/>
            <a:ext cx="9254302" cy="408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25"/>
              </a:lnSpc>
            </a:pPr>
            <a:r>
              <a:rPr lang="en-US" sz="3049" b="1" spc="-1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Unify operations under one system.</a:t>
            </a:r>
          </a:p>
          <a:p>
            <a:pPr algn="just">
              <a:lnSpc>
                <a:spcPts val="6525"/>
              </a:lnSpc>
            </a:pPr>
            <a:r>
              <a:rPr lang="en-US" sz="3049" b="1" spc="-1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•Automate room preparation and guest services.</a:t>
            </a:r>
          </a:p>
          <a:p>
            <a:pPr algn="just">
              <a:lnSpc>
                <a:spcPts val="6525"/>
              </a:lnSpc>
            </a:pPr>
            <a:r>
              <a:rPr lang="en-US" sz="3049" b="1" spc="-1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Support for personalized guest requests.</a:t>
            </a:r>
          </a:p>
          <a:p>
            <a:pPr algn="just">
              <a:lnSpc>
                <a:spcPts val="6525"/>
              </a:lnSpc>
            </a:pPr>
            <a:r>
              <a:rPr lang="en-US" sz="3049" b="1" spc="-1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•Enable analytics and smart device integration.</a:t>
            </a:r>
          </a:p>
          <a:p>
            <a:pPr algn="just">
              <a:lnSpc>
                <a:spcPts val="6525"/>
              </a:lnSpc>
            </a:pPr>
            <a:endParaRPr lang="en-US" sz="3049" b="1" spc="-115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1795" y="1754659"/>
            <a:ext cx="14264410" cy="14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9000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Functional Requirements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29065" y="2872894"/>
            <a:ext cx="17005044" cy="6450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7"/>
              </a:lnSpc>
            </a:pPr>
            <a:r>
              <a:rPr lang="en-US" sz="32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•1. User registration and login</a:t>
            </a:r>
          </a:p>
          <a:p>
            <a:pPr algn="l">
              <a:lnSpc>
                <a:spcPts val="7357"/>
              </a:lnSpc>
            </a:pPr>
            <a:r>
              <a:rPr lang="en-US" sz="32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•2. Room search and real-time availability</a:t>
            </a:r>
          </a:p>
          <a:p>
            <a:pPr algn="l">
              <a:lnSpc>
                <a:spcPts val="7357"/>
              </a:lnSpc>
            </a:pPr>
            <a:r>
              <a:rPr lang="en-US" sz="32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•3. Booking and payment handling</a:t>
            </a:r>
          </a:p>
          <a:p>
            <a:pPr algn="l">
              <a:lnSpc>
                <a:spcPts val="7357"/>
              </a:lnSpc>
            </a:pPr>
            <a:r>
              <a:rPr lang="en-US" sz="32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•4. Manage bookings and send access codes</a:t>
            </a:r>
          </a:p>
          <a:p>
            <a:pPr algn="l">
              <a:lnSpc>
                <a:spcPts val="7357"/>
              </a:lnSpc>
            </a:pPr>
            <a:r>
              <a:rPr lang="en-US" sz="32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•5. Staff tools for updates and tasks</a:t>
            </a:r>
          </a:p>
          <a:p>
            <a:pPr algn="l">
              <a:lnSpc>
                <a:spcPts val="7357"/>
              </a:lnSpc>
            </a:pPr>
            <a:r>
              <a:rPr lang="en-US" sz="32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•6. Reports, analytics, and notifications</a:t>
            </a:r>
          </a:p>
          <a:p>
            <a:pPr algn="l">
              <a:lnSpc>
                <a:spcPts val="7357"/>
              </a:lnSpc>
            </a:pPr>
            <a:endParaRPr lang="en-US" sz="326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6889711" y="9258300"/>
            <a:ext cx="348469" cy="382551"/>
          </a:xfrm>
          <a:custGeom>
            <a:avLst/>
            <a:gdLst/>
            <a:ahLst/>
            <a:cxnLst/>
            <a:rect l="l" t="t" r="r" b="b"/>
            <a:pathLst>
              <a:path w="348469" h="382551">
                <a:moveTo>
                  <a:pt x="0" y="0"/>
                </a:moveTo>
                <a:lnTo>
                  <a:pt x="348469" y="0"/>
                </a:lnTo>
                <a:lnTo>
                  <a:pt x="348469" y="382551"/>
                </a:lnTo>
                <a:lnTo>
                  <a:pt x="0" y="382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8591188" y="7978703"/>
            <a:ext cx="532129" cy="2941746"/>
            <a:chOff x="0" y="0"/>
            <a:chExt cx="140149" cy="77478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0149" cy="774781"/>
            </a:xfrm>
            <a:custGeom>
              <a:avLst/>
              <a:gdLst/>
              <a:ahLst/>
              <a:cxnLst/>
              <a:rect l="l" t="t" r="r" b="b"/>
              <a:pathLst>
                <a:path w="140149" h="774781">
                  <a:moveTo>
                    <a:pt x="0" y="0"/>
                  </a:moveTo>
                  <a:lnTo>
                    <a:pt x="140149" y="0"/>
                  </a:lnTo>
                  <a:lnTo>
                    <a:pt x="140149" y="774781"/>
                  </a:lnTo>
                  <a:lnTo>
                    <a:pt x="0" y="774781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40149" cy="831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1795" y="1773709"/>
            <a:ext cx="15247505" cy="1388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88"/>
              </a:lnSpc>
            </a:pPr>
            <a:r>
              <a:rPr lang="en-US" sz="8600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Non-Functional Requirements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29065" y="2872894"/>
            <a:ext cx="17005044" cy="738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7"/>
              </a:lnSpc>
            </a:pPr>
            <a:r>
              <a:rPr lang="en-US" sz="326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•Performance: &lt; 2s response time</a:t>
            </a:r>
          </a:p>
          <a:p>
            <a:pPr algn="l">
              <a:lnSpc>
                <a:spcPts val="7357"/>
              </a:lnSpc>
            </a:pPr>
            <a:r>
              <a:rPr lang="en-US" sz="326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Scalability: handles high user load</a:t>
            </a:r>
          </a:p>
          <a:p>
            <a:pPr algn="l">
              <a:lnSpc>
                <a:spcPts val="7357"/>
              </a:lnSpc>
            </a:pPr>
            <a:r>
              <a:rPr lang="en-US" sz="326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Security: encryption and compliance</a:t>
            </a:r>
          </a:p>
          <a:p>
            <a:pPr algn="l">
              <a:lnSpc>
                <a:spcPts val="7357"/>
              </a:lnSpc>
            </a:pPr>
            <a:r>
              <a:rPr lang="en-US" sz="326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Availability: 99.9% uptime</a:t>
            </a:r>
          </a:p>
          <a:p>
            <a:pPr algn="l">
              <a:lnSpc>
                <a:spcPts val="7357"/>
              </a:lnSpc>
            </a:pPr>
            <a:r>
              <a:rPr lang="en-US" sz="326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Usability: intuitive UI</a:t>
            </a:r>
          </a:p>
          <a:p>
            <a:pPr algn="l">
              <a:lnSpc>
                <a:spcPts val="7357"/>
              </a:lnSpc>
            </a:pPr>
            <a:r>
              <a:rPr lang="en-US" sz="326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Maintainability and Compatibility</a:t>
            </a:r>
          </a:p>
          <a:p>
            <a:pPr algn="l">
              <a:lnSpc>
                <a:spcPts val="7357"/>
              </a:lnSpc>
            </a:pPr>
            <a:r>
              <a:rPr lang="en-US" sz="326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Localization support</a:t>
            </a:r>
          </a:p>
          <a:p>
            <a:pPr algn="l">
              <a:lnSpc>
                <a:spcPts val="7357"/>
              </a:lnSpc>
            </a:pPr>
            <a:endParaRPr lang="en-US" sz="3269" b="1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6889711" y="9258300"/>
            <a:ext cx="348469" cy="382551"/>
          </a:xfrm>
          <a:custGeom>
            <a:avLst/>
            <a:gdLst/>
            <a:ahLst/>
            <a:cxnLst/>
            <a:rect l="l" t="t" r="r" b="b"/>
            <a:pathLst>
              <a:path w="348469" h="382551">
                <a:moveTo>
                  <a:pt x="0" y="0"/>
                </a:moveTo>
                <a:lnTo>
                  <a:pt x="348469" y="0"/>
                </a:lnTo>
                <a:lnTo>
                  <a:pt x="348469" y="382551"/>
                </a:lnTo>
                <a:lnTo>
                  <a:pt x="0" y="382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8627031" y="8169978"/>
            <a:ext cx="532129" cy="2941746"/>
            <a:chOff x="0" y="0"/>
            <a:chExt cx="140149" cy="77478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0149" cy="774781"/>
            </a:xfrm>
            <a:custGeom>
              <a:avLst/>
              <a:gdLst/>
              <a:ahLst/>
              <a:cxnLst/>
              <a:rect l="l" t="t" r="r" b="b"/>
              <a:pathLst>
                <a:path w="140149" h="774781">
                  <a:moveTo>
                    <a:pt x="0" y="0"/>
                  </a:moveTo>
                  <a:lnTo>
                    <a:pt x="140149" y="0"/>
                  </a:lnTo>
                  <a:lnTo>
                    <a:pt x="140149" y="774781"/>
                  </a:lnTo>
                  <a:lnTo>
                    <a:pt x="0" y="774781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40149" cy="831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374781"/>
            <a:ext cx="7336087" cy="14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9000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Stakeholders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858560" y="4181482"/>
            <a:ext cx="7427113" cy="7947062"/>
            <a:chOff x="0" y="0"/>
            <a:chExt cx="1956112" cy="20930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56112" cy="2093053"/>
            </a:xfrm>
            <a:custGeom>
              <a:avLst/>
              <a:gdLst/>
              <a:ahLst/>
              <a:cxnLst/>
              <a:rect l="l" t="t" r="r" b="b"/>
              <a:pathLst>
                <a:path w="1956112" h="2093053">
                  <a:moveTo>
                    <a:pt x="0" y="0"/>
                  </a:moveTo>
                  <a:lnTo>
                    <a:pt x="1956112" y="0"/>
                  </a:lnTo>
                  <a:lnTo>
                    <a:pt x="1956112" y="2093053"/>
                  </a:lnTo>
                  <a:lnTo>
                    <a:pt x="0" y="20930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956112" cy="2150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924492" y="2972010"/>
            <a:ext cx="6624657" cy="6033593"/>
            <a:chOff x="0" y="0"/>
            <a:chExt cx="508001" cy="4626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8001" cy="462676"/>
            </a:xfrm>
            <a:custGeom>
              <a:avLst/>
              <a:gdLst/>
              <a:ahLst/>
              <a:cxnLst/>
              <a:rect l="l" t="t" r="r" b="b"/>
              <a:pathLst>
                <a:path w="508001" h="462676">
                  <a:moveTo>
                    <a:pt x="0" y="0"/>
                  </a:moveTo>
                  <a:lnTo>
                    <a:pt x="508001" y="0"/>
                  </a:lnTo>
                  <a:lnTo>
                    <a:pt x="508001" y="462676"/>
                  </a:lnTo>
                  <a:lnTo>
                    <a:pt x="0" y="462676"/>
                  </a:lnTo>
                  <a:close/>
                </a:path>
              </a:pathLst>
            </a:custGeom>
            <a:blipFill>
              <a:blip r:embed="rId2"/>
              <a:stretch>
                <a:fillRect l="-30958" r="-3095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6" name="Freeform 16"/>
          <p:cNvSpPr/>
          <p:nvPr/>
        </p:nvSpPr>
        <p:spPr>
          <a:xfrm>
            <a:off x="1150670" y="6996320"/>
            <a:ext cx="255607" cy="182440"/>
          </a:xfrm>
          <a:custGeom>
            <a:avLst/>
            <a:gdLst/>
            <a:ahLst/>
            <a:cxnLst/>
            <a:rect l="l" t="t" r="r" b="b"/>
            <a:pathLst>
              <a:path w="255607" h="182440">
                <a:moveTo>
                  <a:pt x="0" y="0"/>
                </a:moveTo>
                <a:lnTo>
                  <a:pt x="255607" y="0"/>
                </a:lnTo>
                <a:lnTo>
                  <a:pt x="255607" y="182440"/>
                </a:lnTo>
                <a:lnTo>
                  <a:pt x="0" y="182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5852138" y="6941790"/>
            <a:ext cx="291499" cy="291499"/>
          </a:xfrm>
          <a:custGeom>
            <a:avLst/>
            <a:gdLst/>
            <a:ahLst/>
            <a:cxnLst/>
            <a:rect l="l" t="t" r="r" b="b"/>
            <a:pathLst>
              <a:path w="291499" h="291499">
                <a:moveTo>
                  <a:pt x="0" y="0"/>
                </a:moveTo>
                <a:lnTo>
                  <a:pt x="291499" y="0"/>
                </a:lnTo>
                <a:lnTo>
                  <a:pt x="291499" y="291499"/>
                </a:lnTo>
                <a:lnTo>
                  <a:pt x="0" y="2914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028700" y="3969696"/>
            <a:ext cx="9649463" cy="3857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32"/>
              </a:lnSpc>
            </a:pPr>
            <a:r>
              <a:rPr lang="en-US" sz="2899" b="1" spc="-4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•Guests: Booking, payments, room access</a:t>
            </a:r>
          </a:p>
          <a:p>
            <a:pPr algn="just">
              <a:lnSpc>
                <a:spcPts val="5132"/>
              </a:lnSpc>
            </a:pPr>
            <a:r>
              <a:rPr lang="en-US" sz="2899" b="1" spc="-4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•Front Desk: Manage bookings and coordinate tasks</a:t>
            </a:r>
          </a:p>
          <a:p>
            <a:pPr algn="just">
              <a:lnSpc>
                <a:spcPts val="5132"/>
              </a:lnSpc>
            </a:pPr>
            <a:r>
              <a:rPr lang="en-US" sz="2899" b="1" spc="-4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•Housekeeping: Clean and prepare rooms</a:t>
            </a:r>
          </a:p>
          <a:p>
            <a:pPr algn="just">
              <a:lnSpc>
                <a:spcPts val="5132"/>
              </a:lnSpc>
            </a:pPr>
            <a:r>
              <a:rPr lang="en-US" sz="2899" b="1" spc="-4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•Manager: Monitor performance and reports</a:t>
            </a:r>
          </a:p>
          <a:p>
            <a:pPr algn="just">
              <a:lnSpc>
                <a:spcPts val="5132"/>
              </a:lnSpc>
            </a:pPr>
            <a:r>
              <a:rPr lang="en-US" sz="2899" b="1" spc="-4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•Finance: Handle invoices and payments</a:t>
            </a:r>
          </a:p>
          <a:p>
            <a:pPr algn="just">
              <a:lnSpc>
                <a:spcPts val="5132"/>
              </a:lnSpc>
            </a:pPr>
            <a:endParaRPr lang="en-US" sz="2899" b="1" spc="-46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19" name="Group 19"/>
          <p:cNvGrpSpPr/>
          <p:nvPr/>
        </p:nvGrpSpPr>
        <p:grpSpPr>
          <a:xfrm rot="5400000">
            <a:off x="11592496" y="1501137"/>
            <a:ext cx="532129" cy="2941746"/>
            <a:chOff x="0" y="0"/>
            <a:chExt cx="140149" cy="77478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0149" cy="774781"/>
            </a:xfrm>
            <a:custGeom>
              <a:avLst/>
              <a:gdLst/>
              <a:ahLst/>
              <a:cxnLst/>
              <a:rect l="l" t="t" r="r" b="b"/>
              <a:pathLst>
                <a:path w="140149" h="774781">
                  <a:moveTo>
                    <a:pt x="0" y="0"/>
                  </a:moveTo>
                  <a:lnTo>
                    <a:pt x="140149" y="0"/>
                  </a:lnTo>
                  <a:lnTo>
                    <a:pt x="140149" y="774781"/>
                  </a:lnTo>
                  <a:lnTo>
                    <a:pt x="0" y="774781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40149" cy="831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14268" y="-1521148"/>
            <a:ext cx="6273978" cy="12341525"/>
            <a:chOff x="0" y="0"/>
            <a:chExt cx="1652406" cy="32504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2406" cy="3250443"/>
            </a:xfrm>
            <a:custGeom>
              <a:avLst/>
              <a:gdLst/>
              <a:ahLst/>
              <a:cxnLst/>
              <a:rect l="l" t="t" r="r" b="b"/>
              <a:pathLst>
                <a:path w="1652406" h="3250443">
                  <a:moveTo>
                    <a:pt x="0" y="0"/>
                  </a:moveTo>
                  <a:lnTo>
                    <a:pt x="1652406" y="0"/>
                  </a:lnTo>
                  <a:lnTo>
                    <a:pt x="1652406" y="3250443"/>
                  </a:lnTo>
                  <a:lnTo>
                    <a:pt x="0" y="32504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52406" cy="3307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59709" y="-740600"/>
            <a:ext cx="532129" cy="13065903"/>
            <a:chOff x="0" y="0"/>
            <a:chExt cx="140149" cy="34412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149" cy="3441226"/>
            </a:xfrm>
            <a:custGeom>
              <a:avLst/>
              <a:gdLst/>
              <a:ahLst/>
              <a:cxnLst/>
              <a:rect l="l" t="t" r="r" b="b"/>
              <a:pathLst>
                <a:path w="140149" h="3441226">
                  <a:moveTo>
                    <a:pt x="0" y="0"/>
                  </a:moveTo>
                  <a:lnTo>
                    <a:pt x="140149" y="0"/>
                  </a:lnTo>
                  <a:lnTo>
                    <a:pt x="140149" y="3441226"/>
                  </a:lnTo>
                  <a:lnTo>
                    <a:pt x="0" y="3441226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0149" cy="3498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480363" y="2071831"/>
            <a:ext cx="7336087" cy="1097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sz="6800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Use Case Diagram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80363" y="3597869"/>
            <a:ext cx="9254302" cy="408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25"/>
              </a:lnSpc>
            </a:pPr>
            <a:r>
              <a:rPr lang="en-US" sz="3049" b="1" spc="-1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•This diagram represents all actors and their interactions with the system.</a:t>
            </a:r>
          </a:p>
          <a:p>
            <a:pPr algn="just">
              <a:lnSpc>
                <a:spcPts val="6525"/>
              </a:lnSpc>
            </a:pPr>
            <a:r>
              <a:rPr lang="en-US" sz="3049" b="1" spc="-1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•Includes: Guest, Front Desk, Housekeeping, Manager, Finance.</a:t>
            </a:r>
          </a:p>
          <a:p>
            <a:pPr algn="just">
              <a:lnSpc>
                <a:spcPts val="6525"/>
              </a:lnSpc>
            </a:pPr>
            <a:endParaRPr lang="en-US" sz="3049" b="1" spc="-115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889711" y="9258300"/>
            <a:ext cx="348469" cy="382551"/>
          </a:xfrm>
          <a:custGeom>
            <a:avLst/>
            <a:gdLst/>
            <a:ahLst/>
            <a:cxnLst/>
            <a:rect l="l" t="t" r="r" b="b"/>
            <a:pathLst>
              <a:path w="348469" h="382551">
                <a:moveTo>
                  <a:pt x="0" y="0"/>
                </a:moveTo>
                <a:lnTo>
                  <a:pt x="348469" y="0"/>
                </a:lnTo>
                <a:lnTo>
                  <a:pt x="348469" y="382551"/>
                </a:lnTo>
                <a:lnTo>
                  <a:pt x="0" y="382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874765" y="2077027"/>
            <a:ext cx="306582" cy="190965"/>
          </a:xfrm>
          <a:custGeom>
            <a:avLst/>
            <a:gdLst/>
            <a:ahLst/>
            <a:cxnLst/>
            <a:rect l="l" t="t" r="r" b="b"/>
            <a:pathLst>
              <a:path w="306582" h="190965">
                <a:moveTo>
                  <a:pt x="0" y="0"/>
                </a:moveTo>
                <a:lnTo>
                  <a:pt x="306582" y="0"/>
                </a:lnTo>
                <a:lnTo>
                  <a:pt x="306582" y="190965"/>
                </a:lnTo>
                <a:lnTo>
                  <a:pt x="0" y="1909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824350" y="2797960"/>
            <a:ext cx="12530617" cy="6842892"/>
          </a:xfrm>
          <a:custGeom>
            <a:avLst/>
            <a:gdLst/>
            <a:ahLst/>
            <a:cxnLst/>
            <a:rect l="l" t="t" r="r" b="b"/>
            <a:pathLst>
              <a:path w="12530617" h="6842892">
                <a:moveTo>
                  <a:pt x="0" y="0"/>
                </a:moveTo>
                <a:lnTo>
                  <a:pt x="12530616" y="0"/>
                </a:lnTo>
                <a:lnTo>
                  <a:pt x="12530616" y="6842891"/>
                </a:lnTo>
                <a:lnTo>
                  <a:pt x="0" y="68428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234446" y="1566716"/>
            <a:ext cx="8115300" cy="1144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000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Use Case Diagram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1478" y="1684343"/>
            <a:ext cx="14264410" cy="1002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sz="6200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Example Use Case: Cancel Reservation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1478" y="2736147"/>
            <a:ext cx="17005044" cy="6713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2"/>
              </a:lnSpc>
            </a:pPr>
            <a:r>
              <a:rPr lang="en-US" sz="23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•Actor: Guest</a:t>
            </a:r>
          </a:p>
          <a:p>
            <a:pPr algn="l">
              <a:lnSpc>
                <a:spcPts val="5332"/>
              </a:lnSpc>
            </a:pPr>
            <a:r>
              <a:rPr lang="en-US" sz="23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•Scenario: Guest cancels a previously made reservation.</a:t>
            </a:r>
          </a:p>
          <a:p>
            <a:pPr algn="l">
              <a:lnSpc>
                <a:spcPts val="5332"/>
              </a:lnSpc>
            </a:pPr>
            <a:r>
              <a:rPr lang="en-US" sz="23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•Flow:</a:t>
            </a:r>
          </a:p>
          <a:p>
            <a:pPr algn="l">
              <a:lnSpc>
                <a:spcPts val="5332"/>
              </a:lnSpc>
            </a:pPr>
            <a:r>
              <a:rPr lang="en-US" sz="23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•1. Guest logs in and selects a reservation.</a:t>
            </a:r>
          </a:p>
          <a:p>
            <a:pPr algn="l">
              <a:lnSpc>
                <a:spcPts val="5332"/>
              </a:lnSpc>
            </a:pPr>
            <a:r>
              <a:rPr lang="en-US" sz="23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•2. System displays details and cancel option.</a:t>
            </a:r>
          </a:p>
          <a:p>
            <a:pPr algn="l">
              <a:lnSpc>
                <a:spcPts val="5332"/>
              </a:lnSpc>
            </a:pPr>
            <a:r>
              <a:rPr lang="en-US" sz="23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•3. Guest confirms; system updates status and sends confirmation.</a:t>
            </a:r>
          </a:p>
          <a:p>
            <a:pPr algn="l">
              <a:lnSpc>
                <a:spcPts val="5332"/>
              </a:lnSpc>
            </a:pPr>
            <a:r>
              <a:rPr lang="en-US" sz="23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•Exceptions:</a:t>
            </a:r>
          </a:p>
          <a:p>
            <a:pPr algn="l">
              <a:lnSpc>
                <a:spcPts val="5332"/>
              </a:lnSpc>
            </a:pPr>
            <a:r>
              <a:rPr lang="en-US" sz="23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Cannot cancel after check-in date.</a:t>
            </a:r>
          </a:p>
          <a:p>
            <a:pPr algn="l">
              <a:lnSpc>
                <a:spcPts val="5332"/>
              </a:lnSpc>
            </a:pPr>
            <a:r>
              <a:rPr lang="en-US" sz="23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Errors if session times out or system fails.</a:t>
            </a:r>
          </a:p>
          <a:p>
            <a:pPr algn="l">
              <a:lnSpc>
                <a:spcPts val="5332"/>
              </a:lnSpc>
            </a:pPr>
            <a:endParaRPr lang="en-US" sz="236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6889711" y="9258300"/>
            <a:ext cx="348469" cy="382551"/>
          </a:xfrm>
          <a:custGeom>
            <a:avLst/>
            <a:gdLst/>
            <a:ahLst/>
            <a:cxnLst/>
            <a:rect l="l" t="t" r="r" b="b"/>
            <a:pathLst>
              <a:path w="348469" h="382551">
                <a:moveTo>
                  <a:pt x="0" y="0"/>
                </a:moveTo>
                <a:lnTo>
                  <a:pt x="348469" y="0"/>
                </a:lnTo>
                <a:lnTo>
                  <a:pt x="348469" y="382551"/>
                </a:lnTo>
                <a:lnTo>
                  <a:pt x="0" y="382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89711" y="9258300"/>
            <a:ext cx="348469" cy="382551"/>
          </a:xfrm>
          <a:custGeom>
            <a:avLst/>
            <a:gdLst/>
            <a:ahLst/>
            <a:cxnLst/>
            <a:rect l="l" t="t" r="r" b="b"/>
            <a:pathLst>
              <a:path w="348469" h="382551">
                <a:moveTo>
                  <a:pt x="0" y="0"/>
                </a:moveTo>
                <a:lnTo>
                  <a:pt x="348469" y="0"/>
                </a:lnTo>
                <a:lnTo>
                  <a:pt x="348469" y="382551"/>
                </a:lnTo>
                <a:lnTo>
                  <a:pt x="0" y="382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11283" y="2978982"/>
            <a:ext cx="15266791" cy="6798516"/>
          </a:xfrm>
          <a:custGeom>
            <a:avLst/>
            <a:gdLst/>
            <a:ahLst/>
            <a:cxnLst/>
            <a:rect l="l" t="t" r="r" b="b"/>
            <a:pathLst>
              <a:path w="15266791" h="6798516">
                <a:moveTo>
                  <a:pt x="0" y="0"/>
                </a:moveTo>
                <a:lnTo>
                  <a:pt x="15266791" y="0"/>
                </a:lnTo>
                <a:lnTo>
                  <a:pt x="15266791" y="6798517"/>
                </a:lnTo>
                <a:lnTo>
                  <a:pt x="0" y="67985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1819" b="-632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41478" y="1684343"/>
            <a:ext cx="14264410" cy="1002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sz="6200" b="1" dirty="0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Example Use Case: Cancel Reservation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14268" y="-1521148"/>
            <a:ext cx="6273978" cy="12341525"/>
            <a:chOff x="0" y="0"/>
            <a:chExt cx="1652406" cy="32504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2406" cy="3250443"/>
            </a:xfrm>
            <a:custGeom>
              <a:avLst/>
              <a:gdLst/>
              <a:ahLst/>
              <a:cxnLst/>
              <a:rect l="l" t="t" r="r" b="b"/>
              <a:pathLst>
                <a:path w="1652406" h="3250443">
                  <a:moveTo>
                    <a:pt x="0" y="0"/>
                  </a:moveTo>
                  <a:lnTo>
                    <a:pt x="1652406" y="0"/>
                  </a:lnTo>
                  <a:lnTo>
                    <a:pt x="1652406" y="3250443"/>
                  </a:lnTo>
                  <a:lnTo>
                    <a:pt x="0" y="32504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52406" cy="3307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59709" y="-740600"/>
            <a:ext cx="532129" cy="13065903"/>
            <a:chOff x="0" y="0"/>
            <a:chExt cx="140149" cy="34412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149" cy="3441226"/>
            </a:xfrm>
            <a:custGeom>
              <a:avLst/>
              <a:gdLst/>
              <a:ahLst/>
              <a:cxnLst/>
              <a:rect l="l" t="t" r="r" b="b"/>
              <a:pathLst>
                <a:path w="140149" h="3441226">
                  <a:moveTo>
                    <a:pt x="0" y="0"/>
                  </a:moveTo>
                  <a:lnTo>
                    <a:pt x="140149" y="0"/>
                  </a:lnTo>
                  <a:lnTo>
                    <a:pt x="140149" y="3441226"/>
                  </a:lnTo>
                  <a:lnTo>
                    <a:pt x="0" y="3441226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0149" cy="3498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480363" y="2081356"/>
            <a:ext cx="8105345" cy="928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5700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Domain Class Diagram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80363" y="3597869"/>
            <a:ext cx="9254302" cy="408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25"/>
              </a:lnSpc>
            </a:pPr>
            <a:r>
              <a:rPr lang="en-US" sz="3049" b="1" spc="-115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•Shows the key system classes and their attributes.</a:t>
            </a:r>
          </a:p>
          <a:p>
            <a:pPr algn="just">
              <a:lnSpc>
                <a:spcPts val="6525"/>
              </a:lnSpc>
            </a:pPr>
            <a:r>
              <a:rPr lang="en-US" sz="3049" b="1" spc="-115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•Examples: Customer, Room, Reservation with attributes.</a:t>
            </a:r>
          </a:p>
          <a:p>
            <a:pPr algn="just">
              <a:lnSpc>
                <a:spcPts val="6525"/>
              </a:lnSpc>
            </a:pPr>
            <a:endParaRPr lang="en-US" sz="3049" b="1" spc="-115" dirty="0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889711" y="9258300"/>
            <a:ext cx="348469" cy="382551"/>
          </a:xfrm>
          <a:custGeom>
            <a:avLst/>
            <a:gdLst/>
            <a:ahLst/>
            <a:cxnLst/>
            <a:rect l="l" t="t" r="r" b="b"/>
            <a:pathLst>
              <a:path w="348469" h="382551">
                <a:moveTo>
                  <a:pt x="0" y="0"/>
                </a:moveTo>
                <a:lnTo>
                  <a:pt x="348469" y="0"/>
                </a:lnTo>
                <a:lnTo>
                  <a:pt x="348469" y="382551"/>
                </a:lnTo>
                <a:lnTo>
                  <a:pt x="0" y="382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874765" y="2077027"/>
            <a:ext cx="306582" cy="190965"/>
          </a:xfrm>
          <a:custGeom>
            <a:avLst/>
            <a:gdLst/>
            <a:ahLst/>
            <a:cxnLst/>
            <a:rect l="l" t="t" r="r" b="b"/>
            <a:pathLst>
              <a:path w="306582" h="190965">
                <a:moveTo>
                  <a:pt x="0" y="0"/>
                </a:moveTo>
                <a:lnTo>
                  <a:pt x="306582" y="0"/>
                </a:lnTo>
                <a:lnTo>
                  <a:pt x="306582" y="190965"/>
                </a:lnTo>
                <a:lnTo>
                  <a:pt x="0" y="1909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86987" y="2694822"/>
            <a:ext cx="14358641" cy="6801462"/>
          </a:xfrm>
          <a:custGeom>
            <a:avLst/>
            <a:gdLst/>
            <a:ahLst/>
            <a:cxnLst/>
            <a:rect l="l" t="t" r="r" b="b"/>
            <a:pathLst>
              <a:path w="14358641" h="6801462">
                <a:moveTo>
                  <a:pt x="0" y="0"/>
                </a:moveTo>
                <a:lnTo>
                  <a:pt x="14358642" y="0"/>
                </a:lnTo>
                <a:lnTo>
                  <a:pt x="14358642" y="6801461"/>
                </a:lnTo>
                <a:lnTo>
                  <a:pt x="0" y="68014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234446" y="1585766"/>
            <a:ext cx="8115300" cy="93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5800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Domain Class Diagram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89711" y="9258300"/>
            <a:ext cx="348469" cy="382551"/>
          </a:xfrm>
          <a:custGeom>
            <a:avLst/>
            <a:gdLst/>
            <a:ahLst/>
            <a:cxnLst/>
            <a:rect l="l" t="t" r="r" b="b"/>
            <a:pathLst>
              <a:path w="348469" h="382551">
                <a:moveTo>
                  <a:pt x="0" y="0"/>
                </a:moveTo>
                <a:lnTo>
                  <a:pt x="348469" y="0"/>
                </a:lnTo>
                <a:lnTo>
                  <a:pt x="348469" y="382551"/>
                </a:lnTo>
                <a:lnTo>
                  <a:pt x="0" y="382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90556" y="1580571"/>
            <a:ext cx="14264410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sz="5200" b="1" dirty="0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Example Activity Diagram: </a:t>
            </a:r>
            <a:r>
              <a:rPr lang="en-US" sz="5400" b="1" dirty="0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Cancel Reservation</a:t>
            </a:r>
            <a:endParaRPr lang="en-US" sz="5200" b="1" dirty="0">
              <a:solidFill>
                <a:srgbClr val="8D6F22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90556" y="2924114"/>
            <a:ext cx="11162562" cy="691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2"/>
              </a:lnSpc>
            </a:pPr>
            <a:r>
              <a:rPr lang="en-US" sz="236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•Actor: Guest</a:t>
            </a:r>
          </a:p>
          <a:p>
            <a:pPr algn="l">
              <a:lnSpc>
                <a:spcPct val="250000"/>
              </a:lnSpc>
            </a:pPr>
            <a:r>
              <a:rPr lang="en-US" sz="236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•1.  Guest logs in and navigates to "My Reservations".</a:t>
            </a:r>
          </a:p>
          <a:p>
            <a:pPr algn="l">
              <a:lnSpc>
                <a:spcPct val="250000"/>
              </a:lnSpc>
            </a:pPr>
            <a:r>
              <a:rPr lang="en-US" sz="236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•2. System displays a list of the guest’s active reservations.</a:t>
            </a:r>
          </a:p>
          <a:p>
            <a:pPr algn="l">
              <a:lnSpc>
                <a:spcPct val="250000"/>
              </a:lnSpc>
            </a:pPr>
            <a:r>
              <a:rPr lang="en-US" sz="236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•3. . Guest selects the reservation to cancel.</a:t>
            </a:r>
          </a:p>
          <a:p>
            <a:pPr algn="l">
              <a:lnSpc>
                <a:spcPct val="250000"/>
              </a:lnSpc>
            </a:pPr>
            <a:r>
              <a:rPr lang="en-US" sz="236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•4. System displays reservation details and cancellation option.</a:t>
            </a:r>
          </a:p>
          <a:p>
            <a:pPr>
              <a:lnSpc>
                <a:spcPct val="250000"/>
              </a:lnSpc>
            </a:pPr>
            <a:r>
              <a:rPr lang="en-US" sz="236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•5. Guest confirms cancellation.</a:t>
            </a:r>
          </a:p>
          <a:p>
            <a:pPr>
              <a:lnSpc>
                <a:spcPct val="250000"/>
              </a:lnSpc>
            </a:pPr>
            <a:r>
              <a:rPr lang="en-US" sz="236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•6. System processes the cancellation and updates status.</a:t>
            </a:r>
          </a:p>
          <a:p>
            <a:pPr>
              <a:lnSpc>
                <a:spcPct val="250000"/>
              </a:lnSpc>
            </a:pPr>
            <a:r>
              <a:rPr lang="en-US" sz="236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•7. System sends cancellation confirmation to the guest.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pic>
        <p:nvPicPr>
          <p:cNvPr id="14" name="Picture 13" descr="A diagram of a process&#10;&#10;AI-generated content may be incorrect.">
            <a:extLst>
              <a:ext uri="{FF2B5EF4-FFF2-40B4-BE49-F238E27FC236}">
                <a16:creationId xmlns:a16="http://schemas.microsoft.com/office/drawing/2014/main" id="{D88F6EA8-FC13-BE67-C7DF-2C68D0166E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7489" y="2557814"/>
            <a:ext cx="5764511" cy="7283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14268" y="-1521148"/>
            <a:ext cx="6273978" cy="12341525"/>
            <a:chOff x="0" y="0"/>
            <a:chExt cx="1652406" cy="32504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2406" cy="3250443"/>
            </a:xfrm>
            <a:custGeom>
              <a:avLst/>
              <a:gdLst/>
              <a:ahLst/>
              <a:cxnLst/>
              <a:rect l="l" t="t" r="r" b="b"/>
              <a:pathLst>
                <a:path w="1652406" h="3250443">
                  <a:moveTo>
                    <a:pt x="0" y="0"/>
                  </a:moveTo>
                  <a:lnTo>
                    <a:pt x="1652406" y="0"/>
                  </a:lnTo>
                  <a:lnTo>
                    <a:pt x="1652406" y="3250443"/>
                  </a:lnTo>
                  <a:lnTo>
                    <a:pt x="0" y="32504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52406" cy="3307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59709" y="-740600"/>
            <a:ext cx="532129" cy="13065903"/>
            <a:chOff x="0" y="0"/>
            <a:chExt cx="140149" cy="34412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149" cy="3441226"/>
            </a:xfrm>
            <a:custGeom>
              <a:avLst/>
              <a:gdLst/>
              <a:ahLst/>
              <a:cxnLst/>
              <a:rect l="l" t="t" r="r" b="b"/>
              <a:pathLst>
                <a:path w="140149" h="3441226">
                  <a:moveTo>
                    <a:pt x="0" y="0"/>
                  </a:moveTo>
                  <a:lnTo>
                    <a:pt x="140149" y="0"/>
                  </a:lnTo>
                  <a:lnTo>
                    <a:pt x="140149" y="3441226"/>
                  </a:lnTo>
                  <a:lnTo>
                    <a:pt x="0" y="3441226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0149" cy="3498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480363" y="2081356"/>
            <a:ext cx="11044508" cy="148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b="1" dirty="0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System Sequence Diagram:</a:t>
            </a:r>
          </a:p>
          <a:p>
            <a:pPr>
              <a:lnSpc>
                <a:spcPts val="5832"/>
              </a:lnSpc>
            </a:pPr>
            <a:r>
              <a:rPr lang="en-US" sz="5400" b="1" dirty="0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Class Diagram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3972F2-27C4-70C6-7284-941623610F6F}"/>
              </a:ext>
            </a:extLst>
          </p:cNvPr>
          <p:cNvSpPr txBox="1"/>
          <p:nvPr/>
        </p:nvSpPr>
        <p:spPr>
          <a:xfrm>
            <a:off x="6166004" y="3840669"/>
            <a:ext cx="10001250" cy="6190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332"/>
              </a:lnSpc>
            </a:pPr>
            <a:r>
              <a:rPr lang="en-US" sz="18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•Actor: Guest</a:t>
            </a:r>
          </a:p>
          <a:p>
            <a:pPr>
              <a:lnSpc>
                <a:spcPts val="5332"/>
              </a:lnSpc>
            </a:pPr>
            <a:r>
              <a:rPr lang="en-US" b="1" spc="-115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•Scenario:   </a:t>
            </a:r>
            <a:r>
              <a:rPr lang="en-US" dirty="0">
                <a:latin typeface="Poppins Bold" panose="020B0604020202020204" charset="0"/>
                <a:cs typeface="Poppins Bold" panose="020B0604020202020204" charset="0"/>
              </a:rPr>
              <a:t>The guest decides to cancel a previously made room reservation.</a:t>
            </a:r>
          </a:p>
          <a:p>
            <a:pPr>
              <a:lnSpc>
                <a:spcPts val="5332"/>
              </a:lnSpc>
            </a:pPr>
            <a:r>
              <a:rPr lang="en-US" sz="18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•1.  Guest logs in and navigates to "My Reservations".</a:t>
            </a:r>
          </a:p>
          <a:p>
            <a:pPr algn="l">
              <a:lnSpc>
                <a:spcPct val="250000"/>
              </a:lnSpc>
            </a:pPr>
            <a:r>
              <a:rPr lang="en-US" sz="18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•2. System displays a list of the guest’s active reservations.</a:t>
            </a:r>
          </a:p>
          <a:p>
            <a:pPr algn="l">
              <a:lnSpc>
                <a:spcPct val="250000"/>
              </a:lnSpc>
            </a:pPr>
            <a:r>
              <a:rPr lang="en-US" sz="18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•3. . Guest selects the reservation to cancel.</a:t>
            </a:r>
          </a:p>
          <a:p>
            <a:pPr algn="l">
              <a:lnSpc>
                <a:spcPct val="250000"/>
              </a:lnSpc>
            </a:pPr>
            <a:r>
              <a:rPr lang="en-US" sz="18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•4. System displays reservation details and cancellation option.</a:t>
            </a:r>
          </a:p>
          <a:p>
            <a:pPr>
              <a:lnSpc>
                <a:spcPct val="250000"/>
              </a:lnSpc>
            </a:pPr>
            <a:r>
              <a:rPr lang="en-US" sz="18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•5. Guest confirms cancellation.</a:t>
            </a:r>
          </a:p>
          <a:p>
            <a:pPr>
              <a:lnSpc>
                <a:spcPct val="250000"/>
              </a:lnSpc>
            </a:pPr>
            <a:r>
              <a:rPr lang="en-US" sz="18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•6. System processes the cancellation and updates status.</a:t>
            </a:r>
          </a:p>
          <a:p>
            <a:pPr>
              <a:lnSpc>
                <a:spcPct val="250000"/>
              </a:lnSpc>
            </a:pPr>
            <a:r>
              <a:rPr lang="en-US" sz="18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•7. System sends cancellation confirmation to the guest.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889711" y="9258300"/>
            <a:ext cx="348469" cy="382551"/>
          </a:xfrm>
          <a:custGeom>
            <a:avLst/>
            <a:gdLst/>
            <a:ahLst/>
            <a:cxnLst/>
            <a:rect l="l" t="t" r="r" b="b"/>
            <a:pathLst>
              <a:path w="348469" h="382551">
                <a:moveTo>
                  <a:pt x="0" y="0"/>
                </a:moveTo>
                <a:lnTo>
                  <a:pt x="348469" y="0"/>
                </a:lnTo>
                <a:lnTo>
                  <a:pt x="348469" y="382551"/>
                </a:lnTo>
                <a:lnTo>
                  <a:pt x="0" y="382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874765" y="2077027"/>
            <a:ext cx="306582" cy="190965"/>
          </a:xfrm>
          <a:custGeom>
            <a:avLst/>
            <a:gdLst/>
            <a:ahLst/>
            <a:cxnLst/>
            <a:rect l="l" t="t" r="r" b="b"/>
            <a:pathLst>
              <a:path w="306582" h="190965">
                <a:moveTo>
                  <a:pt x="0" y="0"/>
                </a:moveTo>
                <a:lnTo>
                  <a:pt x="306582" y="0"/>
                </a:lnTo>
                <a:lnTo>
                  <a:pt x="306582" y="190965"/>
                </a:lnTo>
                <a:lnTo>
                  <a:pt x="0" y="1909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440192" y="3853113"/>
            <a:ext cx="9298134" cy="2423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5800" b="1" dirty="0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System Sequence Diagram:</a:t>
            </a:r>
          </a:p>
          <a:p>
            <a:pPr>
              <a:lnSpc>
                <a:spcPts val="6264"/>
              </a:lnSpc>
            </a:pPr>
            <a:r>
              <a:rPr lang="en-US" sz="5800" b="1" dirty="0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</a:t>
            </a:r>
            <a:r>
              <a:rPr lang="en-US" sz="6000" b="1" dirty="0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Cancel Reservation</a:t>
            </a:r>
            <a:endParaRPr lang="en-US" sz="5800" b="1" dirty="0">
              <a:solidFill>
                <a:srgbClr val="8D6F22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  <a:p>
            <a:pPr algn="l">
              <a:lnSpc>
                <a:spcPts val="6264"/>
              </a:lnSpc>
            </a:pPr>
            <a:endParaRPr lang="en-US" sz="5800" b="1" dirty="0">
              <a:solidFill>
                <a:srgbClr val="8D6F22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pic>
        <p:nvPicPr>
          <p:cNvPr id="14" name="Picture 1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FFBC82E2-AAD8-696C-772F-CBA0E913870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1830070"/>
            <a:ext cx="6477000" cy="79616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14268" y="-1521148"/>
            <a:ext cx="6273978" cy="12341525"/>
            <a:chOff x="0" y="0"/>
            <a:chExt cx="1652406" cy="32504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2406" cy="3250443"/>
            </a:xfrm>
            <a:custGeom>
              <a:avLst/>
              <a:gdLst/>
              <a:ahLst/>
              <a:cxnLst/>
              <a:rect l="l" t="t" r="r" b="b"/>
              <a:pathLst>
                <a:path w="1652406" h="3250443">
                  <a:moveTo>
                    <a:pt x="0" y="0"/>
                  </a:moveTo>
                  <a:lnTo>
                    <a:pt x="1652406" y="0"/>
                  </a:lnTo>
                  <a:lnTo>
                    <a:pt x="1652406" y="3250443"/>
                  </a:lnTo>
                  <a:lnTo>
                    <a:pt x="0" y="32504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652406" cy="3307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59709" y="-740600"/>
            <a:ext cx="532129" cy="13065903"/>
            <a:chOff x="0" y="0"/>
            <a:chExt cx="140149" cy="34412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149" cy="3441226"/>
            </a:xfrm>
            <a:custGeom>
              <a:avLst/>
              <a:gdLst/>
              <a:ahLst/>
              <a:cxnLst/>
              <a:rect l="l" t="t" r="r" b="b"/>
              <a:pathLst>
                <a:path w="140149" h="3441226">
                  <a:moveTo>
                    <a:pt x="0" y="0"/>
                  </a:moveTo>
                  <a:lnTo>
                    <a:pt x="140149" y="0"/>
                  </a:lnTo>
                  <a:lnTo>
                    <a:pt x="140149" y="3441226"/>
                  </a:lnTo>
                  <a:lnTo>
                    <a:pt x="0" y="3441226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0149" cy="3498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480363" y="2081356"/>
            <a:ext cx="11044508" cy="869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sz="5400" b="1" dirty="0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Design Class Diagram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80363" y="3503508"/>
            <a:ext cx="9254302" cy="325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25"/>
              </a:lnSpc>
            </a:pPr>
            <a:r>
              <a:rPr lang="en-US" sz="3049" b="1" spc="-1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•Represents the detailed system structure with attributes and methods.</a:t>
            </a:r>
          </a:p>
          <a:p>
            <a:pPr algn="just">
              <a:lnSpc>
                <a:spcPts val="6525"/>
              </a:lnSpc>
            </a:pPr>
            <a:r>
              <a:rPr lang="en-US" sz="3049" b="1" spc="-1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•Includes: Room, Reservation, Payment, User, etc.</a:t>
            </a:r>
          </a:p>
          <a:p>
            <a:pPr algn="just">
              <a:lnSpc>
                <a:spcPts val="6525"/>
              </a:lnSpc>
            </a:pPr>
            <a:endParaRPr lang="en-US" sz="3049" b="1" spc="-115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889711" y="9258300"/>
            <a:ext cx="348469" cy="382551"/>
          </a:xfrm>
          <a:custGeom>
            <a:avLst/>
            <a:gdLst/>
            <a:ahLst/>
            <a:cxnLst/>
            <a:rect l="l" t="t" r="r" b="b"/>
            <a:pathLst>
              <a:path w="348469" h="382551">
                <a:moveTo>
                  <a:pt x="0" y="0"/>
                </a:moveTo>
                <a:lnTo>
                  <a:pt x="348469" y="0"/>
                </a:lnTo>
                <a:lnTo>
                  <a:pt x="348469" y="382551"/>
                </a:lnTo>
                <a:lnTo>
                  <a:pt x="0" y="3825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874765" y="2077027"/>
            <a:ext cx="306582" cy="190965"/>
          </a:xfrm>
          <a:custGeom>
            <a:avLst/>
            <a:gdLst/>
            <a:ahLst/>
            <a:cxnLst/>
            <a:rect l="l" t="t" r="r" b="b"/>
            <a:pathLst>
              <a:path w="306582" h="190965">
                <a:moveTo>
                  <a:pt x="0" y="0"/>
                </a:moveTo>
                <a:lnTo>
                  <a:pt x="306582" y="0"/>
                </a:lnTo>
                <a:lnTo>
                  <a:pt x="306582" y="190965"/>
                </a:lnTo>
                <a:lnTo>
                  <a:pt x="0" y="1909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533184" y="2744140"/>
            <a:ext cx="14621370" cy="7253570"/>
          </a:xfrm>
          <a:custGeom>
            <a:avLst/>
            <a:gdLst/>
            <a:ahLst/>
            <a:cxnLst/>
            <a:rect l="l" t="t" r="r" b="b"/>
            <a:pathLst>
              <a:path w="14621370" h="7253570">
                <a:moveTo>
                  <a:pt x="0" y="0"/>
                </a:moveTo>
                <a:lnTo>
                  <a:pt x="14621370" y="0"/>
                </a:lnTo>
                <a:lnTo>
                  <a:pt x="14621370" y="7253570"/>
                </a:lnTo>
                <a:lnTo>
                  <a:pt x="0" y="72535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234446" y="1585766"/>
            <a:ext cx="8115300" cy="939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4"/>
              </a:lnSpc>
            </a:pPr>
            <a:r>
              <a:rPr lang="en-US" sz="5800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Design Class Diagram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1795" y="1754659"/>
            <a:ext cx="14264410" cy="14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9000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1478" y="3272944"/>
            <a:ext cx="17005044" cy="4871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7"/>
              </a:lnSpc>
            </a:pPr>
            <a:r>
              <a:rPr lang="en-US" sz="34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Improves guest satisfaction and operational efficiency.</a:t>
            </a:r>
          </a:p>
          <a:p>
            <a:pPr algn="l">
              <a:lnSpc>
                <a:spcPts val="7807"/>
              </a:lnSpc>
            </a:pPr>
            <a:r>
              <a:rPr lang="en-US" sz="34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•Reduces manual errors and waiting time.</a:t>
            </a:r>
          </a:p>
          <a:p>
            <a:pPr algn="l">
              <a:lnSpc>
                <a:spcPts val="7807"/>
              </a:lnSpc>
            </a:pPr>
            <a:r>
              <a:rPr lang="en-US" sz="34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Enables modern, smart hospitality services.</a:t>
            </a:r>
          </a:p>
          <a:p>
            <a:pPr algn="l">
              <a:lnSpc>
                <a:spcPts val="7807"/>
              </a:lnSpc>
            </a:pPr>
            <a:r>
              <a:rPr lang="en-US" sz="34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• Provides data for informed decision-making.</a:t>
            </a:r>
          </a:p>
          <a:p>
            <a:pPr algn="l">
              <a:lnSpc>
                <a:spcPts val="7807"/>
              </a:lnSpc>
            </a:pPr>
            <a:endParaRPr lang="en-US" sz="346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6889711" y="9258300"/>
            <a:ext cx="348469" cy="382551"/>
          </a:xfrm>
          <a:custGeom>
            <a:avLst/>
            <a:gdLst/>
            <a:ahLst/>
            <a:cxnLst/>
            <a:rect l="l" t="t" r="r" b="b"/>
            <a:pathLst>
              <a:path w="348469" h="382551">
                <a:moveTo>
                  <a:pt x="0" y="0"/>
                </a:moveTo>
                <a:lnTo>
                  <a:pt x="348469" y="0"/>
                </a:lnTo>
                <a:lnTo>
                  <a:pt x="348469" y="382551"/>
                </a:lnTo>
                <a:lnTo>
                  <a:pt x="0" y="3825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Hotel</a:t>
            </a:r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8662875" y="7521362"/>
            <a:ext cx="532129" cy="2941746"/>
            <a:chOff x="0" y="0"/>
            <a:chExt cx="140149" cy="77478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0149" cy="774781"/>
            </a:xfrm>
            <a:custGeom>
              <a:avLst/>
              <a:gdLst/>
              <a:ahLst/>
              <a:cxnLst/>
              <a:rect l="l" t="t" r="r" b="b"/>
              <a:pathLst>
                <a:path w="140149" h="774781">
                  <a:moveTo>
                    <a:pt x="0" y="0"/>
                  </a:moveTo>
                  <a:lnTo>
                    <a:pt x="140149" y="0"/>
                  </a:lnTo>
                  <a:lnTo>
                    <a:pt x="140149" y="774781"/>
                  </a:lnTo>
                  <a:lnTo>
                    <a:pt x="0" y="774781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40149" cy="831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28211" y="2211872"/>
            <a:ext cx="7576479" cy="4616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07"/>
              </a:lnSpc>
            </a:pPr>
            <a:r>
              <a:rPr lang="en-US" sz="15377" b="1">
                <a:solidFill>
                  <a:srgbClr val="8D6F22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Thank 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28211" y="7151605"/>
            <a:ext cx="6257371" cy="53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8"/>
              </a:lnSpc>
            </a:pPr>
            <a:r>
              <a:rPr lang="en-US" sz="2546" spc="66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 YOUR ATTENTION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816450" y="853625"/>
            <a:ext cx="1538516" cy="538623"/>
            <a:chOff x="0" y="0"/>
            <a:chExt cx="405206" cy="1418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05206" cy="141859"/>
            </a:xfrm>
            <a:custGeom>
              <a:avLst/>
              <a:gdLst/>
              <a:ahLst/>
              <a:cxnLst/>
              <a:rect l="l" t="t" r="r" b="b"/>
              <a:pathLst>
                <a:path w="405206" h="141859">
                  <a:moveTo>
                    <a:pt x="0" y="0"/>
                  </a:moveTo>
                  <a:lnTo>
                    <a:pt x="405206" y="0"/>
                  </a:lnTo>
                  <a:lnTo>
                    <a:pt x="405206" y="141859"/>
                  </a:lnTo>
                  <a:lnTo>
                    <a:pt x="0" y="141859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05206" cy="199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666066" y="-489926"/>
            <a:ext cx="7427113" cy="13250192"/>
            <a:chOff x="0" y="0"/>
            <a:chExt cx="1956112" cy="348976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56112" cy="3489763"/>
            </a:xfrm>
            <a:custGeom>
              <a:avLst/>
              <a:gdLst/>
              <a:ahLst/>
              <a:cxnLst/>
              <a:rect l="l" t="t" r="r" b="b"/>
              <a:pathLst>
                <a:path w="1956112" h="3489763">
                  <a:moveTo>
                    <a:pt x="0" y="0"/>
                  </a:moveTo>
                  <a:lnTo>
                    <a:pt x="1956112" y="0"/>
                  </a:lnTo>
                  <a:lnTo>
                    <a:pt x="1956112" y="3489763"/>
                  </a:lnTo>
                  <a:lnTo>
                    <a:pt x="0" y="34897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956112" cy="3546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8700" y="1085276"/>
            <a:ext cx="411492" cy="274157"/>
          </a:xfrm>
          <a:custGeom>
            <a:avLst/>
            <a:gdLst/>
            <a:ahLst/>
            <a:cxnLst/>
            <a:rect l="l" t="t" r="r" b="b"/>
            <a:pathLst>
              <a:path w="411492" h="274157">
                <a:moveTo>
                  <a:pt x="0" y="0"/>
                </a:moveTo>
                <a:lnTo>
                  <a:pt x="411492" y="0"/>
                </a:lnTo>
                <a:lnTo>
                  <a:pt x="411492" y="274156"/>
                </a:lnTo>
                <a:lnTo>
                  <a:pt x="0" y="274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686987" y="1009650"/>
            <a:ext cx="2671067" cy="40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2520" b="1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Hotel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88972" y="915189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21763" y="914974"/>
            <a:ext cx="92789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54554" y="915189"/>
            <a:ext cx="1104746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047490" y="2335697"/>
            <a:ext cx="5316658" cy="5615606"/>
            <a:chOff x="0" y="0"/>
            <a:chExt cx="823689" cy="8700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23689" cy="870004"/>
            </a:xfrm>
            <a:custGeom>
              <a:avLst/>
              <a:gdLst/>
              <a:ahLst/>
              <a:cxnLst/>
              <a:rect l="l" t="t" r="r" b="b"/>
              <a:pathLst>
                <a:path w="823689" h="870004">
                  <a:moveTo>
                    <a:pt x="0" y="0"/>
                  </a:moveTo>
                  <a:lnTo>
                    <a:pt x="823689" y="0"/>
                  </a:lnTo>
                  <a:lnTo>
                    <a:pt x="823689" y="870004"/>
                  </a:lnTo>
                  <a:lnTo>
                    <a:pt x="0" y="870004"/>
                  </a:lnTo>
                  <a:close/>
                </a:path>
              </a:pathLst>
            </a:custGeom>
            <a:blipFill>
              <a:blip r:embed="rId4"/>
              <a:stretch>
                <a:fillRect l="-29266" r="-292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 rot="5400000">
            <a:off x="5910627" y="6480430"/>
            <a:ext cx="532129" cy="2941746"/>
            <a:chOff x="0" y="0"/>
            <a:chExt cx="140149" cy="77478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0149" cy="774781"/>
            </a:xfrm>
            <a:custGeom>
              <a:avLst/>
              <a:gdLst/>
              <a:ahLst/>
              <a:cxnLst/>
              <a:rect l="l" t="t" r="r" b="b"/>
              <a:pathLst>
                <a:path w="140149" h="774781">
                  <a:moveTo>
                    <a:pt x="0" y="0"/>
                  </a:moveTo>
                  <a:lnTo>
                    <a:pt x="140149" y="0"/>
                  </a:lnTo>
                  <a:lnTo>
                    <a:pt x="140149" y="774781"/>
                  </a:lnTo>
                  <a:lnTo>
                    <a:pt x="0" y="774781"/>
                  </a:lnTo>
                  <a:close/>
                </a:path>
              </a:pathLst>
            </a:custGeom>
            <a:solidFill>
              <a:srgbClr val="8D6F2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40149" cy="831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868</Words>
  <Application>Microsoft Office PowerPoint</Application>
  <PresentationFormat>Custom</PresentationFormat>
  <Paragraphs>211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Poppins Bold</vt:lpstr>
      <vt:lpstr>Calibri</vt:lpstr>
      <vt:lpstr>Arial</vt:lpstr>
      <vt:lpstr>The Seasons 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Gold Minimalist Luxury Hotel Presentation</dc:title>
  <dc:creator>noor sharabati</dc:creator>
  <cp:lastModifiedBy>malak shalabi</cp:lastModifiedBy>
  <cp:revision>3</cp:revision>
  <dcterms:created xsi:type="dcterms:W3CDTF">2006-08-16T00:00:00Z</dcterms:created>
  <dcterms:modified xsi:type="dcterms:W3CDTF">2025-06-04T06:51:18Z</dcterms:modified>
  <dc:identifier>DAGpUe8A8-4</dc:identifier>
</cp:coreProperties>
</file>